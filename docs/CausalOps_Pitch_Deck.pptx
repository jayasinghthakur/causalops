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5B8FF"/>
          </a:solidFill>
          <a:ln w="12700">
            <a:solidFill>
              <a:srgbClr val="75B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383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5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CAUSALOPS  /  PRODUCT VISION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alerts to evidence-backed action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5196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PLAN  ·  OCT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76656" y="1901952"/>
            <a:ext cx="8869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Graph-native incident investigation, hypothesis testing, blast-radius reasoning and safe corrective-action simulation.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76656" y="393192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13243A"/>
          </a:solidFill>
          <a:ln w="12700">
            <a:solidFill>
              <a:srgbClr val="2B46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4123944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5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GRAPH-NATIVE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05256" y="46634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Dependencies shape decisions.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79976" y="393192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13243A"/>
          </a:solidFill>
          <a:ln w="12700">
            <a:solidFill>
              <a:srgbClr val="2B46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4123944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5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EVIDENCE-LED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08576" y="46634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claim points to sources.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83296" y="393192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13243A"/>
          </a:solidFill>
          <a:ln w="12700">
            <a:solidFill>
              <a:srgbClr val="2B46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11896" y="4123944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3D6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HUMAN-GATED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11896" y="46634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production actions in MVP.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5B8FF"/>
          </a:solidFill>
          <a:ln w="12700">
            <a:solidFill>
              <a:srgbClr val="75B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383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5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CAUSALOPS  /  MARKET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hidden problem behind cascading alerts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5196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PLAN  ·  OCT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3511296" cy="3154680"/>
          </a:xfrm>
          <a:prstGeom prst="roundRect">
            <a:avLst>
              <a:gd name="adj" fmla="val 2899"/>
            </a:avLst>
          </a:prstGeom>
          <a:solidFill>
            <a:srgbClr val="13243A"/>
          </a:solidFill>
          <a:ln w="12700">
            <a:solidFill>
              <a:srgbClr val="2B46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66544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5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Fragmented signals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606040"/>
            <a:ext cx="305409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Logs, deployments, infrastructure and service ownership live in separate tools.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1874520"/>
            <a:ext cx="3511296" cy="3154680"/>
          </a:xfrm>
          <a:prstGeom prst="roundRect">
            <a:avLst>
              <a:gd name="adj" fmla="val 2899"/>
            </a:avLst>
          </a:prstGeom>
          <a:solidFill>
            <a:srgbClr val="13243A"/>
          </a:solidFill>
          <a:ln w="12700">
            <a:solidFill>
              <a:srgbClr val="2B46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066544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5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certainty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2606040"/>
            <a:ext cx="305409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correlation is mistaken for proven root cause.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01000" y="1874520"/>
            <a:ext cx="3511296" cy="3154680"/>
          </a:xfrm>
          <a:prstGeom prst="roundRect">
            <a:avLst>
              <a:gd name="adj" fmla="val 2899"/>
            </a:avLst>
          </a:prstGeom>
          <a:solidFill>
            <a:srgbClr val="13243A"/>
          </a:solidFill>
          <a:ln w="12700">
            <a:solidFill>
              <a:srgbClr val="2B46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66544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B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 response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0" y="2606040"/>
            <a:ext cx="305409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 recommendations ignore critical shared dependencies.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5B8FF"/>
          </a:solidFill>
          <a:ln w="12700">
            <a:solidFill>
              <a:srgbClr val="75B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383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5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CAUSALOPS  /  TARGET USERS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beachhead customer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5196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PLAN  ·  OCT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13243A"/>
          </a:solidFill>
          <a:ln w="12700">
            <a:solidFill>
              <a:srgbClr val="2B46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66544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5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On-call engineer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60604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Needs an evidence path, contradictions and a defensible next check.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34256" y="187452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13243A"/>
          </a:solidFill>
          <a:ln w="12700">
            <a:solidFill>
              <a:srgbClr val="2B46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62856" y="2066544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5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lead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62856" y="260604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Needs safe options, affected journeys and approval control.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82712" y="187452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13243A"/>
          </a:solidFill>
          <a:ln w="12700">
            <a:solidFill>
              <a:srgbClr val="2B46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1312" y="2066544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5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SaaS team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11312" y="260604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5–30 engineers; 5–20 services; no dedicated incident intelligence platform.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5B8FF"/>
          </a:solidFill>
          <a:ln w="12700">
            <a:solidFill>
              <a:srgbClr val="75B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383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5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CAUSALOPS  /  DIFFERENTIATION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graph is the reasoning engine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5196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PLAN  ·  OCT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5303520" cy="3383280"/>
          </a:xfrm>
          <a:prstGeom prst="roundRect">
            <a:avLst>
              <a:gd name="adj" fmla="val 2703"/>
            </a:avLst>
          </a:prstGeom>
          <a:solidFill>
            <a:srgbClr val="13243A"/>
          </a:solidFill>
          <a:ln w="12700">
            <a:solidFill>
              <a:srgbClr val="2B46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2082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5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GRAPH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→ CALLS → Service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→ DEPENDS_ON → Resource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→ DEPLOYED_TO → Service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90488" y="1828800"/>
            <a:ext cx="5303520" cy="3383280"/>
          </a:xfrm>
          <a:prstGeom prst="roundRect">
            <a:avLst>
              <a:gd name="adj" fmla="val 2703"/>
            </a:avLst>
          </a:prstGeom>
          <a:solidFill>
            <a:srgbClr val="13243A"/>
          </a:solidFill>
          <a:ln w="12700">
            <a:solidFill>
              <a:srgbClr val="2B46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202082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3D6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+ DECISION GRAPH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19088" y="256032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→ Hypothesis → Evidence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Hypothesis → CONTRADICTED_BY → Evidence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→ Action → Runbook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486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5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FalkorDB, and multi-hop explanation + graph mutation response must demonstrably degrade.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5B8FF"/>
          </a:solidFill>
          <a:ln w="12700">
            <a:solidFill>
              <a:srgbClr val="75B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383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5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CAUSALOPS  /  PRODUCT JOURNEY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four-step investigation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5196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PLAN  ·  OCT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719072"/>
            <a:ext cx="10698480" cy="859536"/>
          </a:xfrm>
          <a:prstGeom prst="roundRect">
            <a:avLst>
              <a:gd name="adj" fmla="val 10638"/>
            </a:avLst>
          </a:prstGeom>
          <a:solidFill>
            <a:srgbClr val="13243A"/>
          </a:solidFill>
          <a:ln w="12700">
            <a:solidFill>
              <a:srgbClr val="2B46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911096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5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 Inject synthetic checkout outage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2450592"/>
            <a:ext cx="10241280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752344"/>
            <a:ext cx="10698480" cy="859536"/>
          </a:xfrm>
          <a:prstGeom prst="roundRect">
            <a:avLst>
              <a:gd name="adj" fmla="val 10638"/>
            </a:avLst>
          </a:prstGeom>
          <a:solidFill>
            <a:srgbClr val="13243A"/>
          </a:solidFill>
          <a:ln w="12700">
            <a:solidFill>
              <a:srgbClr val="2B46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94436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5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 Traverse critical service dependencies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3483864"/>
            <a:ext cx="10241280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785616"/>
            <a:ext cx="10698480" cy="859536"/>
          </a:xfrm>
          <a:prstGeom prst="roundRect">
            <a:avLst>
              <a:gd name="adj" fmla="val 10638"/>
            </a:avLst>
          </a:prstGeom>
          <a:solidFill>
            <a:srgbClr val="13243A"/>
          </a:solidFill>
          <a:ln w="12700">
            <a:solidFill>
              <a:srgbClr val="2B46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9776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5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 Rank causes with sources and contradictions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4517136"/>
            <a:ext cx="10241280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818888"/>
            <a:ext cx="10698480" cy="859536"/>
          </a:xfrm>
          <a:prstGeom prst="roundRect">
            <a:avLst>
              <a:gd name="adj" fmla="val 10638"/>
            </a:avLst>
          </a:prstGeom>
          <a:solidFill>
            <a:srgbClr val="13243A"/>
          </a:solidFill>
          <a:ln w="12700">
            <a:solidFill>
              <a:srgbClr val="2B46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5010912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3D6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 Compare mock actions, approve, remember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5550408"/>
            <a:ext cx="10241280" cy="-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5B8FF"/>
          </a:solidFill>
          <a:ln w="12700">
            <a:solidFill>
              <a:srgbClr val="75B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383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5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CAUSALOPS  /  GRAPH-DRIVEN ACTION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signature demo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5196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PLAN  ·  OCT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13232" y="1737360"/>
            <a:ext cx="5175504" cy="3200400"/>
          </a:xfrm>
          <a:prstGeom prst="roundRect">
            <a:avLst>
              <a:gd name="adj" fmla="val 2857"/>
            </a:avLst>
          </a:prstGeom>
          <a:solidFill>
            <a:srgbClr val="13243A"/>
          </a:solidFill>
          <a:ln w="12700">
            <a:solidFill>
              <a:srgbClr val="2B46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929384"/>
            <a:ext cx="4718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5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Checkout → Payment → Redis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41832" y="2468880"/>
            <a:ext cx="471830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 sees timeout evidence AND a recent release. It asks whether the deployment introduced the fault rather than assuming a root cause.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5349240" cy="3200400"/>
          </a:xfrm>
          <a:prstGeom prst="roundRect">
            <a:avLst>
              <a:gd name="adj" fmla="val 2857"/>
            </a:avLst>
          </a:prstGeom>
          <a:solidFill>
            <a:srgbClr val="13243A"/>
          </a:solidFill>
          <a:ln w="12700">
            <a:solidFill>
              <a:srgbClr val="2B46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92938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3D6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an edge, change the answer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5080" y="2468880"/>
            <a:ext cx="4892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a critical dependency or introduce a shared fallback. The impact paths and recommended simulated response change.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58952" y="542239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B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dependency-informed simulation, NOT guaranteed operational forecasting.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5B8FF"/>
          </a:solidFill>
          <a:ln w="12700">
            <a:solidFill>
              <a:srgbClr val="75B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383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5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CAUSALOPS  / 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Architecture: simple, auditable, local-first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5196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PLAN  ·  OCT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51560" y="2103120"/>
            <a:ext cx="2002536" cy="2011680"/>
          </a:xfrm>
          <a:prstGeom prst="roundRect">
            <a:avLst>
              <a:gd name="adj" fmla="val 4566"/>
            </a:avLst>
          </a:prstGeom>
          <a:solidFill>
            <a:srgbClr val="13243A"/>
          </a:solidFill>
          <a:ln w="12700">
            <a:solidFill>
              <a:srgbClr val="3356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274320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8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UI / graph views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90672" y="288036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5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319272" y="2103120"/>
            <a:ext cx="2002536" cy="2011680"/>
          </a:xfrm>
          <a:prstGeom prst="roundRect">
            <a:avLst>
              <a:gd name="adj" fmla="val 4566"/>
            </a:avLst>
          </a:prstGeom>
          <a:solidFill>
            <a:srgbClr val="13243A"/>
          </a:solidFill>
          <a:ln w="12700">
            <a:solidFill>
              <a:srgbClr val="3356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274320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8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+ typed contracts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58384" y="288036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5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586984" y="2103120"/>
            <a:ext cx="2002536" cy="2011680"/>
          </a:xfrm>
          <a:prstGeom prst="roundRect">
            <a:avLst>
              <a:gd name="adj" fmla="val 4566"/>
            </a:avLst>
          </a:prstGeom>
          <a:solidFill>
            <a:srgbClr val="13243A"/>
          </a:solidFill>
          <a:ln w="12700">
            <a:solidFill>
              <a:srgbClr val="3356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05856" y="274320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8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investigation coordinator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6096" y="288036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5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854696" y="2103120"/>
            <a:ext cx="2002536" cy="2011680"/>
          </a:xfrm>
          <a:prstGeom prst="roundRect">
            <a:avLst>
              <a:gd name="adj" fmla="val 4566"/>
            </a:avLst>
          </a:prstGeom>
          <a:solidFill>
            <a:srgbClr val="13243A"/>
          </a:solidFill>
          <a:ln w="12700">
            <a:solidFill>
              <a:srgbClr val="3356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73568" y="274320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8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Allowlisted Cypher graph tools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893808" y="288036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5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10122408" y="2103120"/>
            <a:ext cx="2002536" cy="2011680"/>
          </a:xfrm>
          <a:prstGeom prst="roundRect">
            <a:avLst>
              <a:gd name="adj" fmla="val 4566"/>
            </a:avLst>
          </a:prstGeom>
          <a:solidFill>
            <a:srgbClr val="13243A"/>
          </a:solidFill>
          <a:ln w="12700">
            <a:solidFill>
              <a:srgbClr val="33567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0" y="2743200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3D6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FalkorDB + synthetic events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4672" y="48920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paid LLM required: deterministic baseline first. No arbitrary Cypher or real infrastructure commands.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5B8FF"/>
          </a:solidFill>
          <a:ln w="12700">
            <a:solidFill>
              <a:srgbClr val="75B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383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5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CAUSALOPS  /  SCOPE CONTROL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versus later product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5196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PLAN  ·  OCT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13232" y="1783080"/>
            <a:ext cx="5212080" cy="3749040"/>
          </a:xfrm>
          <a:prstGeom prst="roundRect">
            <a:avLst>
              <a:gd name="adj" fmla="val 2439"/>
            </a:avLst>
          </a:prstGeom>
          <a:solidFill>
            <a:srgbClr val="13243A"/>
          </a:solidFill>
          <a:ln w="12700">
            <a:solidFill>
              <a:srgbClr val="2B46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97510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5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MUST SHIP — 4 DAYS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41832" y="251460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fixtures + validated queries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paths + contradictory facts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LLM-optional investigation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 action and approval trail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12-case reproducible benchmark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44768" y="1783080"/>
            <a:ext cx="5303520" cy="3749040"/>
          </a:xfrm>
          <a:prstGeom prst="roundRect">
            <a:avLst>
              <a:gd name="adj" fmla="val 2439"/>
            </a:avLst>
          </a:prstGeom>
          <a:solidFill>
            <a:srgbClr val="13243A"/>
          </a:solidFill>
          <a:ln w="12700">
            <a:solidFill>
              <a:srgbClr val="2B46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197510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B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POST-HACKATHON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73368" y="251460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Read-only monitoring integrations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Multi-tenant auth and RBAC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Reliable hosted graph/API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SLOs and security review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actions only after extensive controls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5B8FF"/>
          </a:solidFill>
          <a:ln w="12700">
            <a:solidFill>
              <a:srgbClr val="75B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383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5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CAUSALOPS  /  QUALITY EVIDENCE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reasoning, not pretty animation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5196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PLAN  ·  OCT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13232" y="1783080"/>
            <a:ext cx="3438144" cy="3383280"/>
          </a:xfrm>
          <a:prstGeom prst="roundRect">
            <a:avLst>
              <a:gd name="adj" fmla="val 2703"/>
            </a:avLst>
          </a:prstGeom>
          <a:solidFill>
            <a:srgbClr val="13243A"/>
          </a:solidFill>
          <a:ln w="12700">
            <a:solidFill>
              <a:srgbClr val="2B46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975104"/>
            <a:ext cx="2980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5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CAUSE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41832" y="2514600"/>
            <a:ext cx="298094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Top-1, top-3, contradictory evidence and calibrated uncertainty.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70832" y="1783080"/>
            <a:ext cx="3438144" cy="3383280"/>
          </a:xfrm>
          <a:prstGeom prst="roundRect">
            <a:avLst>
              <a:gd name="adj" fmla="val 2703"/>
            </a:avLst>
          </a:prstGeom>
          <a:solidFill>
            <a:srgbClr val="13243A"/>
          </a:solidFill>
          <a:ln w="12700">
            <a:solidFill>
              <a:srgbClr val="2B46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975104"/>
            <a:ext cx="2980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5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99432" y="2514600"/>
            <a:ext cx="298094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real prod actions; approved simulated action audit.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28432" y="1783080"/>
            <a:ext cx="3438144" cy="3383280"/>
          </a:xfrm>
          <a:prstGeom prst="roundRect">
            <a:avLst>
              <a:gd name="adj" fmla="val 2703"/>
            </a:avLst>
          </a:prstGeom>
          <a:solidFill>
            <a:srgbClr val="13243A"/>
          </a:solidFill>
          <a:ln w="12700">
            <a:solidFill>
              <a:srgbClr val="2B46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57032" y="1975104"/>
            <a:ext cx="2980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3D6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ABLATION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57032" y="2514600"/>
            <a:ext cx="298094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cases: graph-on vs graph-off; graph mutation must change results.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5B8FF"/>
          </a:solidFill>
          <a:ln w="12700">
            <a:solidFill>
              <a:srgbClr val="75B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383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5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CAUSALOPS  /  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Four-day delivery cadence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5196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PLAN  ·  OCT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04088" y="1901952"/>
            <a:ext cx="2670048" cy="3017520"/>
          </a:xfrm>
          <a:prstGeom prst="roundRect">
            <a:avLst>
              <a:gd name="adj" fmla="val 3425"/>
            </a:avLst>
          </a:prstGeom>
          <a:solidFill>
            <a:srgbClr val="13243A"/>
          </a:solidFill>
          <a:ln w="12700">
            <a:solidFill>
              <a:srgbClr val="2B46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093976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5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Oct 15 / Graph &amp; tests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32688" y="2633472"/>
            <a:ext cx="22128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Idempotent fixture + bounded Cypher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593592" y="1901952"/>
            <a:ext cx="2670048" cy="3017520"/>
          </a:xfrm>
          <a:prstGeom prst="roundRect">
            <a:avLst>
              <a:gd name="adj" fmla="val 3425"/>
            </a:avLst>
          </a:prstGeom>
          <a:solidFill>
            <a:srgbClr val="13243A"/>
          </a:solidFill>
          <a:ln w="12700">
            <a:solidFill>
              <a:srgbClr val="2B46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22192" y="2093976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5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Oct 16 / Agent &amp; hypotheses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22192" y="2633472"/>
            <a:ext cx="22128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Sources, contradictions, bounded tools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83096" y="1901952"/>
            <a:ext cx="2670048" cy="3017520"/>
          </a:xfrm>
          <a:prstGeom prst="roundRect">
            <a:avLst>
              <a:gd name="adj" fmla="val 3425"/>
            </a:avLst>
          </a:prstGeom>
          <a:solidFill>
            <a:srgbClr val="13243A"/>
          </a:solidFill>
          <a:ln w="12700">
            <a:solidFill>
              <a:srgbClr val="2B46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11696" y="2093976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5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Oct 17 / UI &amp; simulator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11696" y="2633472"/>
            <a:ext cx="22128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graph result, mock approval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372600" y="1901952"/>
            <a:ext cx="2670048" cy="3017520"/>
          </a:xfrm>
          <a:prstGeom prst="roundRect">
            <a:avLst>
              <a:gd name="adj" fmla="val 3425"/>
            </a:avLst>
          </a:prstGeom>
          <a:solidFill>
            <a:srgbClr val="13243A"/>
          </a:solidFill>
          <a:ln w="12700">
            <a:solidFill>
              <a:srgbClr val="2B46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0" y="2093976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3D6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Oct 18 / Benchmark &amp; demo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0" y="2633472"/>
            <a:ext cx="22128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QA, documentation, video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5B8FF"/>
          </a:solidFill>
          <a:ln w="12700">
            <a:solidFill>
              <a:srgbClr val="75B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383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5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CAUSALOPS  /  BUSINESS AND FINANCE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incremental cash is not zero economic cost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5196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PLAN  ·  OCT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810512"/>
            <a:ext cx="5294376" cy="3566160"/>
          </a:xfrm>
          <a:prstGeom prst="roundRect">
            <a:avLst>
              <a:gd name="adj" fmla="val 2564"/>
            </a:avLst>
          </a:prstGeom>
          <a:solidFill>
            <a:srgbClr val="13243A"/>
          </a:solidFill>
          <a:ln w="12700">
            <a:solidFill>
              <a:srgbClr val="2B46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02536"/>
            <a:ext cx="4837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5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 LOCAL MVP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542032"/>
            <a:ext cx="483717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FalkorDB open source + Docker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Python/FastAPI + static frontend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data and deterministic agent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Cloudflare Pages can host static concept under free limits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81344" y="1810512"/>
            <a:ext cx="5294376" cy="3566160"/>
          </a:xfrm>
          <a:prstGeom prst="roundRect">
            <a:avLst>
              <a:gd name="adj" fmla="val 2564"/>
            </a:avLst>
          </a:prstGeom>
          <a:solidFill>
            <a:srgbClr val="13243A"/>
          </a:solidFill>
          <a:ln w="12700">
            <a:solidFill>
              <a:srgbClr val="2B46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9944" y="2002536"/>
            <a:ext cx="4837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B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COSTS / NEXT INVESTMENT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9944" y="2542032"/>
            <a:ext cx="483717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Compute, power, labor and internet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API tokens and hosted uptime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integrations and enterprise controls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willingness-to-pay before monetizing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5B8FF"/>
          </a:solidFill>
          <a:ln w="12700">
            <a:solidFill>
              <a:srgbClr val="75B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3832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5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CAUSALOPS  /  RECOMMENDATION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ship one credible graph-native story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51967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PLAN  ·  OCT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37392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" y="1801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BC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main graph-native coding on 15 October only.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8096" y="265176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8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complete incident → explainable paths → competing hypotheses → simulated response → auditable memory → graph-on/off evaluation.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68096" y="4654296"/>
            <a:ext cx="10607040" cy="1097280"/>
          </a:xfrm>
          <a:prstGeom prst="roundRect">
            <a:avLst>
              <a:gd name="adj" fmla="val 8333"/>
            </a:avLst>
          </a:prstGeom>
          <a:solidFill>
            <a:srgbClr val="13243A"/>
          </a:solidFill>
          <a:ln w="12700">
            <a:solidFill>
              <a:srgbClr val="2B46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" y="484632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3D6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JUDGING PROMISE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96696" y="5385816"/>
            <a:ext cx="10149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B8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graph change changes the agent decision.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CausalOps Product + Hackathon Pitch</dc:title>
  <dc:subject>Graph-native incident intelligence proposal</dc:subject>
  <dc:creator>CausalOps Planning</dc:creator>
  <cp:lastModifiedBy>CausalOps Planning</cp:lastModifiedBy>
  <cp:revision>1</cp:revision>
  <dcterms:created xsi:type="dcterms:W3CDTF">2026-10-11T19:02:00Z</dcterms:created>
  <dcterms:modified xsi:type="dcterms:W3CDTF">2026-10-11T19:02:00Z</dcterms:modified>
</cp:coreProperties>
</file>